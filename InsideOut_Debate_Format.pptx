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3657600" cy="73152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8229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INSIDE OUT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DEBATE FORMAT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Way to Argue, Decide, and Grow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4023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World Schools debaters who want to sharpen the skills that matter most.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INSIDE OUT?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two sides arguing for and against a motion, Inside Out puts you inside the mind of a person facing a real decision.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603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65960"/>
            <a:ext cx="2560320" cy="54864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22402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SUBJECT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3200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team plays a person who must make a decision — weighing all perspectives.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74720" y="1965960"/>
            <a:ext cx="25603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965960"/>
            <a:ext cx="2560320" cy="54864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2402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VALUES IN TENSION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11880" y="3200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teams each champion a core value the Subject holds, competing for priority.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09360" y="1965960"/>
            <a:ext cx="25603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9360" y="1965960"/>
            <a:ext cx="2560320" cy="54864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2402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DECISION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46520" y="32004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Subject synthesizes all arguments into a reasoned, final choice.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TEAMS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teams of 2 debaters each. Positions are assigned randomly.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657600" cy="31089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28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S — THE SUBJECT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24688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 the person making the decision. Must engage with all Value teams and pick a preliminary decision in S1, then a final decision in S2.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14400" y="3931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the judge at the centre of the storm.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1600200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600200"/>
            <a:ext cx="64008" cy="914400"/>
          </a:xfrm>
          <a:prstGeom prst="rect">
            <a:avLst/>
          </a:prstGeom>
          <a:solidFill>
            <a:srgbClr val="D64045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16733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937760" y="19842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Defender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63440" y="2670048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2670048"/>
            <a:ext cx="64008" cy="914400"/>
          </a:xfrm>
          <a:prstGeom prst="rect">
            <a:avLst/>
          </a:prstGeom>
          <a:solidFill>
            <a:srgbClr val="E07A37"/>
          </a:solidFill>
          <a:ln/>
        </p:spPr>
      </p:sp>
      <p:sp>
        <p:nvSpPr>
          <p:cNvPr id="15" name="Text 12"/>
          <p:cNvSpPr/>
          <p:nvPr/>
        </p:nvSpPr>
        <p:spPr>
          <a:xfrm>
            <a:off x="4937760" y="2743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B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937760" y="30540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Defender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63440" y="3739896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63440" y="3739896"/>
            <a:ext cx="64008" cy="9144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9" name="Text 16"/>
          <p:cNvSpPr/>
          <p:nvPr/>
        </p:nvSpPr>
        <p:spPr>
          <a:xfrm>
            <a:off x="4937760" y="3813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C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937760" y="41239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Defender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663440" y="4617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champions one of the Subject’s values and argues what decision that value demands.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SPEECH ORDER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speeches alternate between Value Defenders and the Subject.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1645920" cy="1188720"/>
          </a:xfrm>
          <a:prstGeom prst="rect">
            <a:avLst/>
          </a:prstGeom>
          <a:solidFill>
            <a:srgbClr val="D64045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14600" y="1965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26080" y="1645920"/>
            <a:ext cx="1645920" cy="1188720"/>
          </a:xfrm>
          <a:prstGeom prst="rect">
            <a:avLst/>
          </a:prstGeom>
          <a:solidFill>
            <a:srgbClr val="E07A3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26080" y="1783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926080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17720" y="1965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0" y="1645920"/>
            <a:ext cx="1645920" cy="1188720"/>
          </a:xfrm>
          <a:prstGeom prst="rect">
            <a:avLst/>
          </a:prstGeom>
          <a:solidFill>
            <a:srgbClr val="1B998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1783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C1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029200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20840" y="1965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132320" y="1645920"/>
            <a:ext cx="1645920" cy="118872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0" y="1783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S1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132320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960" y="3337560"/>
            <a:ext cx="1645920" cy="1188720"/>
          </a:xfrm>
          <a:prstGeom prst="rect">
            <a:avLst/>
          </a:prstGeom>
          <a:solidFill>
            <a:srgbClr val="D64045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3474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A2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22960" y="3977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14600" y="3657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926080" y="3337560"/>
            <a:ext cx="1645920" cy="1188720"/>
          </a:xfrm>
          <a:prstGeom prst="rect">
            <a:avLst/>
          </a:prstGeom>
          <a:solidFill>
            <a:srgbClr val="E07A3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926080" y="3474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2926080" y="3977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17720" y="3657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29200" y="3337560"/>
            <a:ext cx="1645920" cy="1188720"/>
          </a:xfrm>
          <a:prstGeom prst="rect">
            <a:avLst/>
          </a:prstGeom>
          <a:solidFill>
            <a:srgbClr val="1B998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0" y="3474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C2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5029200" y="3977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20840" y="3657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132320" y="3337560"/>
            <a:ext cx="1645920" cy="118872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132320" y="3474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S2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132320" y="3977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114800" y="2926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Motions are richer than in World Schools. They set up an entire scenario.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78638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1848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4904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DECISION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508760" y="18288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choice the Subject must make.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468880"/>
            <a:ext cx="78638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70048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542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CONTEXT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508760" y="28803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Background, practical constraints, relevant facts about the Subject.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3520440"/>
            <a:ext cx="78638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721608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5935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VALUES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508760" y="39319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beliefs the Subject holds, each assigned to a Value Defender team.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solidFill>
            <a:srgbClr val="E94560">
              <a:alpha val="92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914400" y="4434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The motion does NOT prescribe a decision to Value Defenders. They construct their own position from their assigned value.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MOTION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7863840" cy="1828800"/>
          </a:xfrm>
          <a:prstGeom prst="rect">
            <a:avLst/>
          </a:prstGeom>
          <a:solidFill>
            <a:srgbClr val="2A3A5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parent of a 16-year-old teenager.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Middle-class family in a metropolis suburb. You have higher education. Higher education is free but only a few universities are considered good. Year: 2026.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kid is talented in music, a good leader, strong in STEM — but distracted, few friends, failed to learn a foreign language.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expressed moderate interest in studying Musicology at Uni, but also consider not going.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asked you: what should I do after high school?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7863840" cy="548640"/>
          </a:xfrm>
          <a:prstGeom prst="rect">
            <a:avLst/>
          </a:prstGeom>
          <a:solidFill>
            <a:srgbClr val="D6404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063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 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28800" y="306324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“Financial stability and independence is essential for a happy life.”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7863840" cy="548640"/>
          </a:xfrm>
          <a:prstGeom prst="rect">
            <a:avLst/>
          </a:prstGeom>
          <a:solidFill>
            <a:srgbClr val="E07A3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749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 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28800" y="374904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is important to be a well-rounded, cultured individual.”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434840"/>
            <a:ext cx="7863840" cy="5486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4348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 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28800" y="443484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people you surround yourself with end up defining who you are.”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WORLD SCHOOLS vs INSIDE OUT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749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3749040" cy="5029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WORLD SCHOOLS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teams (Prop vs Opp)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speakers per team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Binary: prove the motion true or false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definition dispute possible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speech summarises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Adjudicator decides winner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749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188720"/>
            <a:ext cx="3749040" cy="5029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188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INSIDE OUT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187452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teams (1 Subject + 3 Values)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speakers per team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Multi-polar: values compete for priority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definition debate — motion is specific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team synthesises live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gives commendations + feedback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EACH ROLE DEMANDS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37490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258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 DEFENDERS (A, B, C)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192024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Argue why their assigned value should be the top priority in this decision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a concrete recommendation for the Subject based on that value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with and rebut the other Value Defenders' reasoning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 and address the Subject team's concerns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754880" y="1143000"/>
            <a:ext cx="3749040" cy="32918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2588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SUBJECT (S)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029200" y="192024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with ALL arguments from every Value Defender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interplay and tensions between the values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S1: Pick and justify a preliminary decision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S2: Deliver a final, well-reasoned decision that reflects the full debate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&amp; 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just a win/loss, Inside Out uses a growth-oriented evaluation system.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45720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916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EVALUATOR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21031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Awards commendations to individual debaters, then delivers oral feedback to each team explaining scores, reasoning, and personalised advice for improvement.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577840" y="1508760"/>
            <a:ext cx="2926080" cy="12801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9" name="Text 6"/>
          <p:cNvSpPr/>
          <p:nvPr/>
        </p:nvSpPr>
        <p:spPr>
          <a:xfrm>
            <a:off x="5577840" y="15727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COMMENDATIONS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60720" y="20116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Compassionate Discourse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Intriguing Argumentation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Strategic Rebuttal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Inspiring Team Leadership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" y="3063240"/>
            <a:ext cx="78638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461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BADGE SYSTEM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914400" y="3703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a commendation 3 times → earn a Badge. Badges upgrade infinitely, but each level requires 3 more commendations than the last. This creates long-term, visible growth trajectories for every debater — not just winners.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1371600" y="4160520"/>
            <a:ext cx="457200" cy="457200"/>
          </a:xfrm>
          <a:prstGeom prst="ellipse">
            <a:avLst/>
          </a:prstGeom>
          <a:solidFill>
            <a:srgbClr val="CD7F32"/>
          </a:solidFill>
          <a:ln/>
        </p:spPr>
      </p:sp>
      <p:sp>
        <p:nvSpPr>
          <p:cNvPr id="16" name="Text 12"/>
          <p:cNvSpPr/>
          <p:nvPr/>
        </p:nvSpPr>
        <p:spPr>
          <a:xfrm>
            <a:off x="137160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3×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43000" y="45720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1874520" y="4160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B9E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3200400" y="4160520"/>
            <a:ext cx="457200" cy="457200"/>
          </a:xfrm>
          <a:prstGeom prst="ellipse">
            <a:avLst/>
          </a:prstGeom>
          <a:solidFill>
            <a:srgbClr val="C0C0C0"/>
          </a:solidFill>
          <a:ln/>
        </p:spPr>
      </p:sp>
      <p:sp>
        <p:nvSpPr>
          <p:cNvPr id="20" name="Text 16"/>
          <p:cNvSpPr/>
          <p:nvPr/>
        </p:nvSpPr>
        <p:spPr>
          <a:xfrm>
            <a:off x="320040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6×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2971800" y="45720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1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3703320" y="4160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B9E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5029200" y="4160520"/>
            <a:ext cx="457200" cy="45720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24" name="Text 20"/>
          <p:cNvSpPr/>
          <p:nvPr/>
        </p:nvSpPr>
        <p:spPr>
          <a:xfrm>
            <a:off x="502920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9×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4800600" y="45720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2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5532120" y="4160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B9E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6858000" y="4160520"/>
            <a:ext cx="457200" cy="457200"/>
          </a:xfrm>
          <a:prstGeom prst="ellipse">
            <a:avLst/>
          </a:prstGeom>
          <a:solidFill>
            <a:srgbClr val="B9F2FF"/>
          </a:solidFill>
          <a:ln/>
        </p:spPr>
      </p:sp>
      <p:sp>
        <p:nvSpPr>
          <p:cNvPr id="28" name="Text 24"/>
          <p:cNvSpPr/>
          <p:nvPr/>
        </p:nvSpPr>
        <p:spPr>
          <a:xfrm>
            <a:off x="685800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12×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629400" y="45720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3200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WORLD SCHOOLS DEBATERS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SHOULD TRY THIS</a:t>
            </a:r>
            <a:endParaRPr lang="en-US" sz="2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99032"/>
            <a:ext cx="320040" cy="320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444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Sharpen Weighing &amp; Adjudication Thinking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234440" y="16459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Subject role forces you to do what great third speakers and reply speech-givers do: weigh competing values and explain why one matters more. This is the hardest WS skill to master.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13432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3444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Multi-Directional Engagement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1234440" y="2560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WS you only face one opponent. Here you engage with two rival teams AND a Subject. This trains faster, more adaptive rebuttal — the skill that separates good from great debaters.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227832"/>
            <a:ext cx="320040" cy="3200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3444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Value-Based Argumentation Mastery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1234440" y="3474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WS motions hinge on competing values. Inside Out isolates this skill: you must articulate why a value matters and what it implies, not just assert it.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142232"/>
            <a:ext cx="320040" cy="32004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34440" y="4069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Cases from Principles, Not Positions</a:t>
            </a:r>
            <a:endParaRPr lang="en-US" sz="1300" dirty="0"/>
          </a:p>
        </p:txBody>
      </p:sp>
      <p:sp>
        <p:nvSpPr>
          <p:cNvPr id="15" name="Text 8"/>
          <p:cNvSpPr/>
          <p:nvPr/>
        </p:nvSpPr>
        <p:spPr>
          <a:xfrm>
            <a:off x="1234440" y="43891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Defenders aren't told what to argue — they derive a position from a belief. This is exactly the creative case construction WS demands on impromptu motions.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THAT TRANSFER BACK TO WS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2560320" cy="54864"/>
          </a:xfrm>
          <a:prstGeom prst="rect">
            <a:avLst/>
          </a:prstGeom>
          <a:solidFill>
            <a:srgbClr val="D6404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Reply Speeches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Subject role is basically a live reply speech. You weigh issues, choose what matters, and explain why.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11887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0" y="1188720"/>
            <a:ext cx="2560320" cy="54864"/>
          </a:xfrm>
          <a:prstGeom prst="rect">
            <a:avLst/>
          </a:prstGeom>
          <a:solidFill>
            <a:srgbClr val="E07A37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Criteria &amp; Frameworks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11880" y="17373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Defenders must justify why their framework should dominate — exactly what WS teams do with criteria.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1887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1188720"/>
            <a:ext cx="2560320" cy="54864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Rebuttal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17373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Engaging 2 opponents and a Subject trains you to rebut under pressure, across multiple argument lines.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0175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017520"/>
            <a:ext cx="2560320" cy="54864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Construction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566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Deriving a position from a value mirrors the creative, principled case-building that wins impromptu rounds.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0" y="30175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0" y="3017520"/>
            <a:ext cx="2560320" cy="54864"/>
          </a:xfrm>
          <a:prstGeom prst="rect">
            <a:avLst/>
          </a:prstGeom>
          <a:solidFill>
            <a:srgbClr val="7B2D8E"/>
          </a:solidFill>
          <a:ln/>
        </p:spPr>
      </p:sp>
      <p:sp>
        <p:nvSpPr>
          <p:cNvPr id="21" name="Text 19"/>
          <p:cNvSpPr/>
          <p:nvPr/>
        </p:nvSpPr>
        <p:spPr>
          <a:xfrm>
            <a:off x="361188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Empathy &amp; Perspective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11880" y="3566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a real person making a real decision builds the emotional intelligence that makes speeches connect.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30175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0" y="3017520"/>
            <a:ext cx="2560320" cy="54864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Evaluator Thinking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46520" y="3566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evaluation works from the inside makes you better at anticipating what adjudicators want.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0972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DEBATE FROM THE INSIDE OUT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371600" y="29260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into someone else's dilemma.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a value. Make a decision.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B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a better debater in the process.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00400" y="4114800"/>
            <a:ext cx="27432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4"/>
          <p:cNvSpPr/>
          <p:nvPr/>
        </p:nvSpPr>
        <p:spPr>
          <a:xfrm>
            <a:off x="1828800" y="4297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try it?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Inside Out Debate Format</dc:title>
  <dc:subject>PptxGenJS Presentation</dc:subject>
  <dc:creator>Inside Out Debate</dc:creator>
  <cp:lastModifiedBy>Inside Out Debate</cp:lastModifiedBy>
  <cp:revision>1</cp:revision>
  <dcterms:created xsi:type="dcterms:W3CDTF">2026-02-18T16:20:52Z</dcterms:created>
  <dcterms:modified xsi:type="dcterms:W3CDTF">2026-02-18T16:20:52Z</dcterms:modified>
</cp:coreProperties>
</file>